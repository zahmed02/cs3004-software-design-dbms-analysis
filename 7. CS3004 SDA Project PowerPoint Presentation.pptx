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  <p:sldId id="268" r:id="rId17"/>
  </p:sldIdLst>
  <p:sldSz cx="18288000" cy="10287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TT Fors Bold Italics" charset="0"/>
      <p:regular r:id="rId22"/>
    </p:embeddedFont>
    <p:embeddedFont>
      <p:font typeface="TT Fors Bold" charset="0"/>
      <p:regular r:id="rId23"/>
    </p:embeddedFont>
    <p:embeddedFont>
      <p:font typeface="ITC Avant Garde Gothic Bold" charset="0"/>
      <p:regular r:id="rId24"/>
    </p:embeddedFont>
    <p:embeddedFont>
      <p:font typeface="ITC Avant Garde Gothic Italics" charset="0"/>
      <p:regular r:id="rId25"/>
    </p:embeddedFont>
    <p:embeddedFont>
      <p:font typeface="ITC Avant Garde Gothic" charset="0"/>
      <p:regular r:id="rId26"/>
    </p:embeddedFont>
    <p:embeddedFont>
      <p:font typeface="TT Fors" charset="0"/>
      <p:regular r:id="rId27"/>
    </p:embeddedFont>
    <p:embeddedFont>
      <p:font typeface="TT Fors Italics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29265" y="0"/>
            <a:ext cx="5858735" cy="10287000"/>
            <a:chOff x="0" y="0"/>
            <a:chExt cx="90767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7671" cy="1593725"/>
            </a:xfrm>
            <a:custGeom>
              <a:avLst/>
              <a:gdLst/>
              <a:ahLst/>
              <a:cxnLst/>
              <a:rect l="l" t="t" r="r" b="b"/>
              <a:pathLst>
                <a:path w="907671" h="1593725">
                  <a:moveTo>
                    <a:pt x="0" y="0"/>
                  </a:moveTo>
                  <a:lnTo>
                    <a:pt x="907671" y="0"/>
                  </a:lnTo>
                  <a:lnTo>
                    <a:pt x="90767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650" r="-465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27732" y="-241722"/>
            <a:ext cx="8068363" cy="4093086"/>
            <a:chOff x="0" y="0"/>
            <a:chExt cx="10757817" cy="5457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986571"/>
              <a:ext cx="10757817" cy="4470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64"/>
                </a:lnSpc>
              </a:pPr>
              <a:r>
                <a:rPr lang="en-US" sz="8264" b="1" spc="-247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Car Warehouse Management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0757817" cy="526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01453" y="7936258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27732" y="4358002"/>
            <a:ext cx="9187783" cy="156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spc="-168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Instructor: Sir Abdul Rehman 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5600" spc="-168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Mehmood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7732" y="5909948"/>
            <a:ext cx="9187783" cy="85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5600" b="1" spc="-168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BCS-5A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7732" y="6757043"/>
            <a:ext cx="9187783" cy="297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i="1" spc="-168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K230907 ZUBAIR AHMED</a:t>
            </a:r>
          </a:p>
          <a:p>
            <a:pPr algn="l">
              <a:lnSpc>
                <a:spcPts val="5600"/>
              </a:lnSpc>
            </a:pPr>
            <a:r>
              <a:rPr lang="en-US" sz="5600" i="1" spc="-168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K230516 USMAN KHALID</a:t>
            </a:r>
          </a:p>
          <a:p>
            <a:pPr algn="l">
              <a:lnSpc>
                <a:spcPts val="5600"/>
              </a:lnSpc>
            </a:pPr>
            <a:r>
              <a:rPr lang="en-US" sz="5600" i="1" spc="-168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K230668 MUJTABA KHAN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endParaRPr lang="en-US" sz="5600" i="1" spc="-168">
              <a:solidFill>
                <a:srgbClr val="8299AA"/>
              </a:solidFill>
              <a:latin typeface="ITC Avant Garde Gothic Italics"/>
              <a:ea typeface="ITC Avant Garde Gothic Italics"/>
              <a:cs typeface="ITC Avant Garde Gothic Italics"/>
              <a:sym typeface="ITC Avant Garde Gothic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Overview: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12657" y="7695951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1616" y="2533467"/>
            <a:ext cx="14774363" cy="449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42420" lvl="1" indent="-621210" algn="just">
              <a:lnSpc>
                <a:spcPts val="5754"/>
              </a:lnSpc>
              <a:buAutoNum type="arabicPeriod"/>
            </a:pPr>
            <a:r>
              <a:rPr lang="en-US" sz="5754" spc="-172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Complete car dealership management solution</a:t>
            </a:r>
          </a:p>
          <a:p>
            <a:pPr marL="1242420" lvl="1" indent="-621210" algn="just">
              <a:lnSpc>
                <a:spcPts val="5754"/>
              </a:lnSpc>
              <a:buAutoNum type="arabicPeriod"/>
            </a:pPr>
            <a:r>
              <a:rPr lang="en-US" sz="5754" spc="-172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Inventory tracking &amp; sales management</a:t>
            </a:r>
          </a:p>
          <a:p>
            <a:pPr marL="1242420" lvl="1" indent="-621210" algn="just">
              <a:lnSpc>
                <a:spcPts val="5754"/>
              </a:lnSpc>
              <a:buAutoNum type="arabicPeriod"/>
            </a:pPr>
            <a:r>
              <a:rPr lang="en-US" sz="5754" spc="-172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Customer relationship management</a:t>
            </a:r>
          </a:p>
          <a:p>
            <a:pPr marL="1242420" lvl="1" indent="-621210" algn="just">
              <a:lnSpc>
                <a:spcPts val="5754"/>
              </a:lnSpc>
              <a:buAutoNum type="arabicPeriod"/>
            </a:pPr>
            <a:r>
              <a:rPr lang="en-US" sz="5754" spc="-172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Online vehicle catalog</a:t>
            </a:r>
          </a:p>
          <a:p>
            <a:pPr marL="1242420" lvl="1" indent="-621210" algn="just">
              <a:lnSpc>
                <a:spcPts val="5754"/>
              </a:lnSpc>
              <a:buAutoNum type="arabicPeriod"/>
            </a:pPr>
            <a:r>
              <a:rPr lang="en-US" sz="5754" spc="-172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Brand affiliations &amp; Partnerships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418079"/>
            <a:chOff x="0" y="0"/>
            <a:chExt cx="9182100" cy="3224106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1472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00"/>
                </a:lnSpc>
                <a:spcBef>
                  <a:spcPct val="0"/>
                </a:spcBef>
              </a:pPr>
              <a:r>
                <a:rPr lang="en-US" sz="7200" u="none" strike="noStrike" spc="-215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Features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62031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functionalities of the management system: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41368" y="1028700"/>
            <a:ext cx="6886575" cy="2169933"/>
            <a:chOff x="0" y="0"/>
            <a:chExt cx="9182100" cy="2893243"/>
          </a:xfrm>
        </p:grpSpPr>
        <p:sp>
          <p:nvSpPr>
            <p:cNvPr id="6" name="TextBox 6"/>
            <p:cNvSpPr txBox="1"/>
            <p:nvPr/>
          </p:nvSpPr>
          <p:spPr>
            <a:xfrm>
              <a:off x="0" y="799437"/>
              <a:ext cx="9182100" cy="2093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Efficient inventory tracking ensures real-time visibility of stock levels, simplifying management and reducing errors within the warehouse operations.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Inventory Tracking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41368" y="3911575"/>
            <a:ext cx="6886575" cy="2196652"/>
            <a:chOff x="0" y="0"/>
            <a:chExt cx="9182100" cy="2928870"/>
          </a:xfrm>
        </p:grpSpPr>
        <p:sp>
          <p:nvSpPr>
            <p:cNvPr id="9" name="TextBox 9"/>
            <p:cNvSpPr txBox="1"/>
            <p:nvPr/>
          </p:nvSpPr>
          <p:spPr>
            <a:xfrm>
              <a:off x="0" y="835063"/>
              <a:ext cx="9182100" cy="2093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Real-time monitoring allows for immediate updates on inventory status, enabling quick decision-making and enhancing overall operational efficiency.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Real-Time Monitoring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41368" y="6821170"/>
            <a:ext cx="6886575" cy="2196652"/>
            <a:chOff x="0" y="0"/>
            <a:chExt cx="9182100" cy="292887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35063"/>
              <a:ext cx="9182100" cy="2093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Automated storage systems streamline the retrieval process, maximizing space utilization and improving access to vehicles within the warehouse environment.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Automated Storage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6244" y="7749391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59606"/>
            <a:ext cx="8324850" cy="3178969"/>
            <a:chOff x="0" y="-9525"/>
            <a:chExt cx="11099800" cy="4238625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138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dirty="0" smtClean="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Architecture:</a:t>
              </a:r>
              <a:endParaRPr lang="en-US" sz="8000" spc="-240" dirty="0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14725"/>
              <a:ext cx="11068284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26" name="Picture 2" descr="C:\Users\pc\AppData\Local\Temp\38719eb0-ecf0-4e36-b966-73df5dbe8b3d_CS3004 SDA PROJECT DIAGRAMS.zip.b3d\SDA PROJECT\SDA PROJECT PLANT UML\COMPONENT DIAGRAM PT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95500"/>
            <a:ext cx="17154525" cy="683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03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6725" y="3700633"/>
            <a:ext cx="4010025" cy="2327910"/>
            <a:chOff x="0" y="0"/>
            <a:chExt cx="5346700" cy="31038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53467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Users can register and log in.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Admin can manage user accounts.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Us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er Management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33975" y="3700633"/>
            <a:ext cx="4010025" cy="2092998"/>
            <a:chOff x="0" y="0"/>
            <a:chExt cx="5346700" cy="2790664"/>
          </a:xfrm>
        </p:grpSpPr>
        <p:sp>
          <p:nvSpPr>
            <p:cNvPr id="6" name="TextBox 6"/>
            <p:cNvSpPr txBox="1"/>
            <p:nvPr/>
          </p:nvSpPr>
          <p:spPr>
            <a:xfrm>
              <a:off x="0" y="1337784"/>
              <a:ext cx="53467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Add new car details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Edit existing car information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Delete car records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Ca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 Inventory Management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01225" y="3700633"/>
            <a:ext cx="4010025" cy="2327910"/>
            <a:chOff x="0" y="0"/>
            <a:chExt cx="5346700" cy="31038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53467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Display total cars, available slots, and trending vehicles.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Generate reports on inventory, orders.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 Das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hboard &amp; Reports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201400" cy="2046604"/>
            <a:chOff x="0" y="0"/>
            <a:chExt cx="14935200" cy="27288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472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00"/>
                </a:lnSpc>
                <a:spcBef>
                  <a:spcPct val="0"/>
                </a:spcBef>
              </a:pPr>
              <a:r>
                <a:rPr lang="en-US" sz="7200" spc="-215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Requirements: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081106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Enhancing Efficiency and Security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377519" y="1285143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66725" y="6551728"/>
            <a:ext cx="4010025" cy="3156585"/>
            <a:chOff x="0" y="0"/>
            <a:chExt cx="5346700" cy="420878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765300"/>
              <a:ext cx="53467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Display total cars, available slots, and trending vehicles.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Generate reports on inventory, orders, and test drives.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5346700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Car &amp; B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rand Management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33975" y="6551728"/>
            <a:ext cx="4330662" cy="3156585"/>
            <a:chOff x="0" y="0"/>
            <a:chExt cx="5774216" cy="420878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765300"/>
              <a:ext cx="5774216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Customers can search/filter vehicles, view galleries, and Buy.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Maintain order history and manage customer reviews.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5774216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Customer Inte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raction &amp; Booking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8381" y="3292792"/>
            <a:ext cx="4170344" cy="1956435"/>
            <a:chOff x="0" y="0"/>
            <a:chExt cx="5560458" cy="26085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5560458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Users can register and log in.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Admin can manage user accounts.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560458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Ad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min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91291" y="3292792"/>
            <a:ext cx="5533051" cy="2699385"/>
            <a:chOff x="0" y="0"/>
            <a:chExt cx="7377401" cy="35991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7377401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Browses vehicles, filters by price/type/year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Views galleries &amp; specifications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Books test drives</a:t>
              </a: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Gives reviews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Cus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tomer/User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657225"/>
            <a:ext cx="11201400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spc="-215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Actors: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350800" y="8853391"/>
            <a:ext cx="2190291" cy="809819"/>
            <a:chOff x="0" y="0"/>
            <a:chExt cx="2920388" cy="10797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68381" y="7029883"/>
            <a:ext cx="4170344" cy="1909445"/>
            <a:chOff x="0" y="0"/>
            <a:chExt cx="5560458" cy="254592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093047"/>
              <a:ext cx="5560458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Provides brand details, affiliations, and manufacturing info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5560458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Manufacturer / B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rand Partner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750" y="2176896"/>
            <a:ext cx="5160959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8299AA"/>
                </a:solidFill>
                <a:latin typeface="TT Fors Bold"/>
                <a:ea typeface="TT Fors Bold"/>
                <a:cs typeface="TT Fors Bold"/>
                <a:sym typeface="TT Fors Bold"/>
              </a:rPr>
              <a:t>Primary Actors: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50" y="5915977"/>
            <a:ext cx="5160959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8299AA"/>
                </a:solidFill>
                <a:latin typeface="TT Fors Bold"/>
                <a:ea typeface="TT Fors Bold"/>
                <a:cs typeface="TT Fors Bold"/>
                <a:sym typeface="TT Fors Bold"/>
              </a:rPr>
              <a:t>Secondary Actors: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091291" y="7029883"/>
            <a:ext cx="4010025" cy="1584960"/>
            <a:chOff x="0" y="0"/>
            <a:chExt cx="5346700" cy="211328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155700"/>
              <a:ext cx="53467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Stores all car, user, inventory, and order data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System Dat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abase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08489"/>
            <a:ext cx="5038639" cy="10070023"/>
          </a:xfrm>
          <a:custGeom>
            <a:avLst/>
            <a:gdLst/>
            <a:ahLst/>
            <a:cxnLst/>
            <a:rect l="l" t="t" r="r" b="b"/>
            <a:pathLst>
              <a:path w="5038639" h="10070023">
                <a:moveTo>
                  <a:pt x="0" y="0"/>
                </a:moveTo>
                <a:lnTo>
                  <a:pt x="5038639" y="0"/>
                </a:lnTo>
                <a:lnTo>
                  <a:pt x="5038639" y="10070022"/>
                </a:lnTo>
                <a:lnTo>
                  <a:pt x="0" y="1007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8" r="-571" b="-526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324850" cy="3171825"/>
            <a:chOff x="0" y="0"/>
            <a:chExt cx="11099800" cy="4229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 CASE DIAGRAM: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14725"/>
              <a:ext cx="11068284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6725" y="2993924"/>
            <a:ext cx="5158974" cy="5995670"/>
            <a:chOff x="0" y="0"/>
            <a:chExt cx="6878632" cy="7994227"/>
          </a:xfrm>
        </p:grpSpPr>
        <p:sp>
          <p:nvSpPr>
            <p:cNvPr id="3" name="TextBox 3"/>
            <p:cNvSpPr txBox="1"/>
            <p:nvPr/>
          </p:nvSpPr>
          <p:spPr>
            <a:xfrm>
              <a:off x="0" y="1093047"/>
              <a:ext cx="6878632" cy="6901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Actor: 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Admin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Pre-condition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:</a:t>
              </a: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 Admin is logged in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Post-condition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:</a:t>
              </a: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 Model is created/updated/deleted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Main Flow: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Admin selects “Car Model Management”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Enters model info (price, manufacturing details, type)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Saves changes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Alternate Flow: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 – Missing fields → system shows validation errors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299A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6878632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Us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 Case 1: Manage Car Models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6725" y="731714"/>
            <a:ext cx="11201400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spc="-215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Detailed Use Cases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69009" y="1028700"/>
            <a:ext cx="2190291" cy="809819"/>
            <a:chOff x="0" y="0"/>
            <a:chExt cx="2920388" cy="1079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993814" y="2993924"/>
            <a:ext cx="5158974" cy="4881245"/>
            <a:chOff x="0" y="0"/>
            <a:chExt cx="6878632" cy="650832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093047"/>
              <a:ext cx="6878632" cy="541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Actor: </a:t>
              </a: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Customer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Pre-condition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:</a:t>
              </a: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 Customer opens website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Post-condition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:  Vehicles displayed as per selected filters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Main Flow: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Customer enters keyword or selects filters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System displays filtered results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8299A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Alternate Flow: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– No matching vehicles → “No results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299A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6878632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Us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 Case 2: Search &amp; Filter Vehicles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524263" y="2993924"/>
            <a:ext cx="5158974" cy="5271779"/>
            <a:chOff x="0" y="0"/>
            <a:chExt cx="6878632" cy="702903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18459"/>
              <a:ext cx="6878632" cy="5910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Actor: </a:t>
              </a: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Customer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Pre-condition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:</a:t>
              </a: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 Customer selects a car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Post-condition</a:t>
              </a:r>
              <a:r>
                <a:rPr lang="en-US" sz="2100" i="1">
                  <a:solidFill>
                    <a:srgbClr val="8299A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:  ooking saved and visible to Admin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8299AA"/>
                  </a:solidFill>
                  <a:latin typeface="TT Fors Bold Italics"/>
                  <a:ea typeface="TT Fors Bold Italics"/>
                  <a:cs typeface="TT Fors Bold Italics"/>
                  <a:sym typeface="TT Fors Bold Italics"/>
                </a:rPr>
                <a:t>Main Flow: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Customer clicks “Book Test Drive”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Selects date/time</a:t>
              </a:r>
            </a:p>
            <a:p>
              <a:pPr marL="453390" lvl="1" indent="-226695" algn="l">
                <a:lnSpc>
                  <a:spcPts val="2940"/>
                </a:lnSpc>
                <a:buAutoNum type="arabicPeriod"/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System confirms booking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8299A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Alternate Flow: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299AA"/>
                  </a:solidFill>
                  <a:latin typeface="TT Fors"/>
                  <a:ea typeface="TT Fors"/>
                  <a:cs typeface="TT Fors"/>
                  <a:sym typeface="TT Fors"/>
                </a:rPr>
                <a:t>– Slot unavailable → User selects another date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299AA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6878632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Us</a:t>
              </a:r>
              <a:r>
                <a:rPr lang="en-US" sz="2600" b="1" u="none" strike="noStrike" spc="-78">
                  <a:solidFill>
                    <a:srgbClr val="8299AA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 Case 3: Test Drive Booking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84095" y="0"/>
            <a:ext cx="10003905" cy="10287000"/>
          </a:xfrm>
          <a:custGeom>
            <a:avLst/>
            <a:gdLst/>
            <a:ahLst/>
            <a:cxnLst/>
            <a:rect l="l" t="t" r="r" b="b"/>
            <a:pathLst>
              <a:path w="10003905" h="10287000">
                <a:moveTo>
                  <a:pt x="0" y="0"/>
                </a:moveTo>
                <a:lnTo>
                  <a:pt x="10003905" y="0"/>
                </a:lnTo>
                <a:lnTo>
                  <a:pt x="100039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" r="-210" b="-28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6507" y="607636"/>
            <a:ext cx="7237088" cy="3171825"/>
            <a:chOff x="0" y="0"/>
            <a:chExt cx="9649451" cy="4229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649451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Activity Diagram: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14725"/>
              <a:ext cx="9622052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6507" y="3429894"/>
            <a:ext cx="5160959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8299AA"/>
                </a:solidFill>
                <a:latin typeface="TT Fors Bold"/>
                <a:ea typeface="TT Fors Bold"/>
                <a:cs typeface="TT Fors Bold"/>
                <a:sym typeface="TT Fors Bold"/>
              </a:rPr>
              <a:t>For Searching Cars: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81009" y="0"/>
            <a:ext cx="12506991" cy="10287000"/>
          </a:xfrm>
          <a:custGeom>
            <a:avLst/>
            <a:gdLst/>
            <a:ahLst/>
            <a:cxnLst/>
            <a:rect l="l" t="t" r="r" b="b"/>
            <a:pathLst>
              <a:path w="12506991" h="10287000">
                <a:moveTo>
                  <a:pt x="0" y="0"/>
                </a:moveTo>
                <a:lnTo>
                  <a:pt x="12506991" y="0"/>
                </a:lnTo>
                <a:lnTo>
                  <a:pt x="125069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3092" y="562516"/>
            <a:ext cx="6045729" cy="3171825"/>
            <a:chOff x="0" y="0"/>
            <a:chExt cx="8060973" cy="4229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8060973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Activity Diagram: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14725"/>
              <a:ext cx="8038085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3092" y="3384774"/>
            <a:ext cx="5160959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8299AA"/>
                </a:solidFill>
                <a:latin typeface="TT Fors Bold"/>
                <a:ea typeface="TT Fors Bold"/>
                <a:cs typeface="TT Fors Bold"/>
                <a:sym typeface="TT Fors Bold"/>
              </a:rPr>
              <a:t>Test-Drive Booking: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70143" y="0"/>
            <a:ext cx="10299875" cy="10287000"/>
          </a:xfrm>
          <a:custGeom>
            <a:avLst/>
            <a:gdLst/>
            <a:ahLst/>
            <a:cxnLst/>
            <a:rect l="l" t="t" r="r" b="b"/>
            <a:pathLst>
              <a:path w="10299875" h="10287000">
                <a:moveTo>
                  <a:pt x="0" y="0"/>
                </a:moveTo>
                <a:lnTo>
                  <a:pt x="10299875" y="0"/>
                </a:lnTo>
                <a:lnTo>
                  <a:pt x="10299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6507" y="437865"/>
            <a:ext cx="7029895" cy="3171825"/>
            <a:chOff x="0" y="0"/>
            <a:chExt cx="9373194" cy="4229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373194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Activity Diagram: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14725"/>
              <a:ext cx="934658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6507" y="3196802"/>
            <a:ext cx="5160959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8299AA"/>
                </a:solidFill>
                <a:latin typeface="TT Fors Bold"/>
                <a:ea typeface="TT Fors Bold"/>
                <a:cs typeface="TT Fors Bold"/>
                <a:sym typeface="TT Fors Bold"/>
              </a:rPr>
              <a:t>Order and Inventory Transaction: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27197" y="562089"/>
            <a:ext cx="13450013" cy="9162822"/>
          </a:xfrm>
          <a:custGeom>
            <a:avLst/>
            <a:gdLst/>
            <a:ahLst/>
            <a:cxnLst/>
            <a:rect l="l" t="t" r="r" b="b"/>
            <a:pathLst>
              <a:path w="13450013" h="9162822">
                <a:moveTo>
                  <a:pt x="0" y="0"/>
                </a:moveTo>
                <a:lnTo>
                  <a:pt x="13450014" y="0"/>
                </a:lnTo>
                <a:lnTo>
                  <a:pt x="13450014" y="9162822"/>
                </a:lnTo>
                <a:lnTo>
                  <a:pt x="0" y="916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1188939"/>
            <a:ext cx="5709041" cy="3171825"/>
            <a:chOff x="0" y="0"/>
            <a:chExt cx="7612055" cy="4229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612055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ERD Diagram: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14725"/>
              <a:ext cx="7590442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66725" y="731714"/>
            <a:ext cx="11201400" cy="93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spc="-215" dirty="0" smtClean="0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UI Screen Shots:</a:t>
            </a:r>
            <a:endParaRPr lang="en-US" sz="7200" spc="-215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069009" y="1028700"/>
            <a:ext cx="2190291" cy="809819"/>
            <a:chOff x="0" y="0"/>
            <a:chExt cx="2920388" cy="1079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6" name="Picture 15"/>
          <p:cNvPicPr/>
          <p:nvPr/>
        </p:nvPicPr>
        <p:blipFill>
          <a:blip r:embed="rId4"/>
          <a:stretch>
            <a:fillRect/>
          </a:stretch>
        </p:blipFill>
        <p:spPr>
          <a:xfrm>
            <a:off x="623552" y="2857500"/>
            <a:ext cx="8229600" cy="6019800"/>
          </a:xfrm>
          <a:prstGeom prst="rect">
            <a:avLst/>
          </a:prstGeom>
        </p:spPr>
      </p:pic>
      <p:sp>
        <p:nvSpPr>
          <p:cNvPr id="17" name="TextBox 10"/>
          <p:cNvSpPr txBox="1"/>
          <p:nvPr/>
        </p:nvSpPr>
        <p:spPr>
          <a:xfrm>
            <a:off x="10194987" y="1889975"/>
            <a:ext cx="6659404" cy="62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  <a:spcBef>
                <a:spcPct val="0"/>
              </a:spcBef>
            </a:pPr>
            <a:r>
              <a:rPr lang="en-US" sz="4800" b="1" spc="-144" dirty="0" smtClean="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Home Page:</a:t>
            </a:r>
            <a:endParaRPr lang="en-US" sz="4800" spc="-144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775952" y="2095500"/>
            <a:ext cx="6659404" cy="62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  <a:spcBef>
                <a:spcPct val="0"/>
              </a:spcBef>
            </a:pPr>
            <a:r>
              <a:rPr lang="en-US" sz="4800" b="1" spc="-144" dirty="0" smtClean="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Login Page:</a:t>
            </a:r>
            <a:endParaRPr lang="en-US" sz="4800" spc="-144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pic>
        <p:nvPicPr>
          <p:cNvPr id="19" name="Picture 18"/>
          <p:cNvPicPr/>
          <p:nvPr/>
        </p:nvPicPr>
        <p:blipFill>
          <a:blip r:embed="rId5"/>
          <a:stretch>
            <a:fillRect/>
          </a:stretch>
        </p:blipFill>
        <p:spPr>
          <a:xfrm>
            <a:off x="9195380" y="2889160"/>
            <a:ext cx="8483019" cy="606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3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76384" y="731714"/>
            <a:ext cx="11201400" cy="93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spc="-215" dirty="0" smtClean="0">
                <a:solidFill>
                  <a:srgbClr val="8299A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UI Screen Shots:</a:t>
            </a:r>
            <a:endParaRPr lang="en-US" sz="7200" spc="-215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069009" y="1028700"/>
            <a:ext cx="2190291" cy="809819"/>
            <a:chOff x="0" y="0"/>
            <a:chExt cx="2920388" cy="1079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TextBox 10"/>
          <p:cNvSpPr txBox="1"/>
          <p:nvPr/>
        </p:nvSpPr>
        <p:spPr>
          <a:xfrm>
            <a:off x="10194987" y="1889975"/>
            <a:ext cx="6659404" cy="62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  <a:spcBef>
                <a:spcPct val="0"/>
              </a:spcBef>
            </a:pPr>
            <a:r>
              <a:rPr lang="en-US" sz="4800" b="1" spc="-144" dirty="0" smtClean="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Car Models:</a:t>
            </a:r>
            <a:endParaRPr lang="en-US" sz="4800" spc="-144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775952" y="2095500"/>
            <a:ext cx="6659404" cy="62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  <a:spcBef>
                <a:spcPct val="0"/>
              </a:spcBef>
            </a:pPr>
            <a:r>
              <a:rPr lang="en-US" sz="4800" b="1" spc="-144" dirty="0" smtClean="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Users:</a:t>
            </a:r>
            <a:endParaRPr lang="en-US" sz="4800" spc="-144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1" y="2889160"/>
            <a:ext cx="8305800" cy="636914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9220200" y="2889160"/>
            <a:ext cx="8610600" cy="63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44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14952" y="553629"/>
            <a:ext cx="832485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b="1" spc="-24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Conclusion: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631846" y="8781675"/>
            <a:ext cx="4071405" cy="1505325"/>
            <a:chOff x="0" y="0"/>
            <a:chExt cx="5428539" cy="200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7100" cy="2007100"/>
            </a:xfrm>
            <a:custGeom>
              <a:avLst/>
              <a:gdLst/>
              <a:ahLst/>
              <a:cxnLst/>
              <a:rect l="l" t="t" r="r" b="b"/>
              <a:pathLst>
                <a:path w="2007100" h="2007100">
                  <a:moveTo>
                    <a:pt x="0" y="0"/>
                  </a:moveTo>
                  <a:lnTo>
                    <a:pt x="2007100" y="0"/>
                  </a:lnTo>
                  <a:lnTo>
                    <a:pt x="2007100" y="2007100"/>
                  </a:lnTo>
                  <a:lnTo>
                    <a:pt x="0" y="2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710720" y="0"/>
              <a:ext cx="2007100" cy="2007100"/>
            </a:xfrm>
            <a:custGeom>
              <a:avLst/>
              <a:gdLst/>
              <a:ahLst/>
              <a:cxnLst/>
              <a:rect l="l" t="t" r="r" b="b"/>
              <a:pathLst>
                <a:path w="2007100" h="2007100">
                  <a:moveTo>
                    <a:pt x="0" y="0"/>
                  </a:moveTo>
                  <a:lnTo>
                    <a:pt x="2007100" y="0"/>
                  </a:lnTo>
                  <a:lnTo>
                    <a:pt x="2007100" y="2007100"/>
                  </a:lnTo>
                  <a:lnTo>
                    <a:pt x="0" y="2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421439" y="0"/>
              <a:ext cx="2007100" cy="2007100"/>
            </a:xfrm>
            <a:custGeom>
              <a:avLst/>
              <a:gdLst/>
              <a:ahLst/>
              <a:cxnLst/>
              <a:rect l="l" t="t" r="r" b="b"/>
              <a:pathLst>
                <a:path w="2007100" h="2007100">
                  <a:moveTo>
                    <a:pt x="0" y="0"/>
                  </a:moveTo>
                  <a:lnTo>
                    <a:pt x="2007100" y="0"/>
                  </a:lnTo>
                  <a:lnTo>
                    <a:pt x="2007100" y="2007100"/>
                  </a:lnTo>
                  <a:lnTo>
                    <a:pt x="0" y="2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43438" y="1776004"/>
            <a:ext cx="9224110" cy="394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9" lvl="1" indent="-365814" algn="l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3388" i="1" spc="-101" dirty="0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System centralizes all car warehouse operations</a:t>
            </a:r>
          </a:p>
          <a:p>
            <a:pPr marL="731629" lvl="1" indent="-365814" algn="l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3388" i="1" spc="-101" dirty="0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Improves accuracy through real-time inventory tracking</a:t>
            </a:r>
          </a:p>
          <a:p>
            <a:pPr marL="731629" lvl="1" indent="-365814" algn="l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3388" i="1" spc="-101" dirty="0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Enhanced user experience with gallery, filters &amp; reviews</a:t>
            </a:r>
          </a:p>
          <a:p>
            <a:pPr marL="731629" lvl="1" indent="-365814" algn="l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3388" i="1" spc="-101" dirty="0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Supports test drive scheduling and order history tracking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  <a:endParaRPr lang="en-US" sz="3388" i="1" spc="-101" dirty="0">
              <a:solidFill>
                <a:srgbClr val="8299AA"/>
              </a:solidFill>
              <a:latin typeface="ITC Avant Garde Gothic Italics"/>
              <a:ea typeface="ITC Avant Garde Gothic Italics"/>
              <a:cs typeface="ITC Avant Garde Gothic Italics"/>
              <a:sym typeface="ITC Avant Garde Gothic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2000" y="5719703"/>
            <a:ext cx="665940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  <a:spcBef>
                <a:spcPct val="0"/>
              </a:spcBef>
            </a:pPr>
            <a:r>
              <a:rPr lang="en-US" sz="4800" b="1" spc="-144" dirty="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Future Enhancements</a:t>
            </a:r>
            <a:r>
              <a:rPr lang="en-US" sz="4800" b="1" spc="-144" dirty="0" smtClean="0">
                <a:solidFill>
                  <a:srgbClr val="8299A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:</a:t>
            </a:r>
            <a:endParaRPr lang="en-US" sz="4800" spc="-144" dirty="0">
              <a:solidFill>
                <a:srgbClr val="8299AA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43438" y="6746008"/>
            <a:ext cx="9224110" cy="222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9" lvl="1" indent="-365814" algn="l">
              <a:lnSpc>
                <a:spcPts val="3388"/>
              </a:lnSpc>
              <a:buFont typeface="Arial"/>
              <a:buChar char="•"/>
            </a:pPr>
            <a:r>
              <a:rPr lang="en-US" sz="3388" i="1" spc="-101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AI-based recommendation engine</a:t>
            </a:r>
          </a:p>
          <a:p>
            <a:pPr marL="731629" lvl="1" indent="-365814" algn="l">
              <a:lnSpc>
                <a:spcPts val="3388"/>
              </a:lnSpc>
              <a:buFont typeface="Arial"/>
              <a:buChar char="•"/>
            </a:pPr>
            <a:r>
              <a:rPr lang="en-US" sz="3388" i="1" spc="-101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Automated price comparison</a:t>
            </a:r>
          </a:p>
          <a:p>
            <a:pPr marL="731629" lvl="1" indent="-365814" algn="l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3388" i="1" spc="-101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Integration with real dealership APIs</a:t>
            </a:r>
          </a:p>
          <a:p>
            <a:pPr marL="731629" lvl="1" indent="-365814" algn="l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3388" i="1" spc="-101">
                <a:solidFill>
                  <a:srgbClr val="8299AA"/>
                </a:solidFill>
                <a:latin typeface="ITC Avant Garde Gothic Italics"/>
                <a:ea typeface="ITC Avant Garde Gothic Italics"/>
                <a:cs typeface="ITC Avant Garde Gothic Italics"/>
                <a:sym typeface="ITC Avant Garde Gothic Italics"/>
              </a:rPr>
              <a:t>Mobile app version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  <a:endParaRPr lang="en-US" sz="3388" i="1" spc="-101">
              <a:solidFill>
                <a:srgbClr val="8299AA"/>
              </a:solidFill>
              <a:latin typeface="ITC Avant Garde Gothic Italics"/>
              <a:ea typeface="ITC Avant Garde Gothic Italics"/>
              <a:cs typeface="ITC Avant Garde Gothic Italics"/>
              <a:sym typeface="ITC Avant Garde Gothic Itali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7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836205" y="745065"/>
            <a:ext cx="8934615" cy="8876440"/>
          </a:xfrm>
          <a:custGeom>
            <a:avLst/>
            <a:gdLst/>
            <a:ahLst/>
            <a:cxnLst/>
            <a:rect l="l" t="t" r="r" b="b"/>
            <a:pathLst>
              <a:path w="8934615" h="8876440">
                <a:moveTo>
                  <a:pt x="0" y="0"/>
                </a:moveTo>
                <a:lnTo>
                  <a:pt x="8934615" y="0"/>
                </a:lnTo>
                <a:lnTo>
                  <a:pt x="8934615" y="8876440"/>
                </a:lnTo>
                <a:lnTo>
                  <a:pt x="0" y="8876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268" r="-2587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6750" y="666750"/>
            <a:ext cx="7910464" cy="4052394"/>
            <a:chOff x="0" y="0"/>
            <a:chExt cx="10547286" cy="5403192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10547286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8299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 About This?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688817"/>
              <a:ext cx="10517338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AAC1D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552</Words>
  <Application>Microsoft Office PowerPoint</Application>
  <PresentationFormat>Custom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TT Fors Bold Italics</vt:lpstr>
      <vt:lpstr>TT Fors Bold</vt:lpstr>
      <vt:lpstr>ITC Avant Garde Gothic Bold</vt:lpstr>
      <vt:lpstr>ITC Avant Garde Gothic Italics</vt:lpstr>
      <vt:lpstr>ITC Avant Garde Gothic</vt:lpstr>
      <vt:lpstr>TT Fors</vt:lpstr>
      <vt:lpstr>TT Fors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Car Warehouse Management System</dc:title>
  <dc:creator>Mujtaba</dc:creator>
  <dc:description>Presentation - Car Warehouse Management System</dc:description>
  <cp:lastModifiedBy>Mujtaba</cp:lastModifiedBy>
  <cp:revision>7</cp:revision>
  <dcterms:created xsi:type="dcterms:W3CDTF">2006-08-16T00:00:00Z</dcterms:created>
  <dcterms:modified xsi:type="dcterms:W3CDTF">2025-12-04T04:03:04Z</dcterms:modified>
  <dc:identifier>DAG6ffbmxNg</dc:identifier>
</cp:coreProperties>
</file>